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2"/>
  </p:notesMasterIdLst>
  <p:handoutMasterIdLst>
    <p:handoutMasterId r:id="rId23"/>
  </p:handoutMasterIdLst>
  <p:sldIdLst>
    <p:sldId id="410" r:id="rId5"/>
    <p:sldId id="383" r:id="rId6"/>
    <p:sldId id="389" r:id="rId7"/>
    <p:sldId id="391" r:id="rId8"/>
    <p:sldId id="408" r:id="rId9"/>
    <p:sldId id="412" r:id="rId10"/>
    <p:sldId id="413" r:id="rId11"/>
    <p:sldId id="414" r:id="rId12"/>
    <p:sldId id="415" r:id="rId13"/>
    <p:sldId id="423" r:id="rId14"/>
    <p:sldId id="419" r:id="rId15"/>
    <p:sldId id="416" r:id="rId16"/>
    <p:sldId id="418" r:id="rId17"/>
    <p:sldId id="417" r:id="rId18"/>
    <p:sldId id="420" r:id="rId19"/>
    <p:sldId id="421" r:id="rId20"/>
    <p:sldId id="39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77" autoAdjust="0"/>
    <p:restoredTop sz="96327" autoAdjust="0"/>
  </p:normalViewPr>
  <p:slideViewPr>
    <p:cSldViewPr snapToGrid="0">
      <p:cViewPr varScale="1">
        <p:scale>
          <a:sx n="69" d="100"/>
          <a:sy n="69" d="100"/>
        </p:scale>
        <p:origin x="580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248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023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653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0334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4468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4598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1187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3737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1284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7223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8473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7322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3" y="411479"/>
            <a:ext cx="5758049" cy="3291840"/>
          </a:xfrm>
        </p:spPr>
        <p:txBody>
          <a:bodyPr/>
          <a:lstStyle/>
          <a:p>
            <a:r>
              <a:rPr lang="en-US" sz="5000" dirty="0" smtClean="0"/>
              <a:t>FUSE Lab </a:t>
            </a:r>
            <a:r>
              <a:rPr lang="en-US" sz="5000" dirty="0"/>
              <a:t>Interview Presentation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 smtClean="0"/>
              <a:t>Education</a:t>
            </a:r>
            <a:endParaRPr lang="en-US" dirty="0"/>
          </a:p>
          <a:p>
            <a:r>
              <a:rPr lang="en-US" dirty="0" smtClean="0"/>
              <a:t>Work Experience</a:t>
            </a:r>
            <a:endParaRPr lang="en-US" dirty="0"/>
          </a:p>
          <a:p>
            <a:r>
              <a:rPr lang="en-US" dirty="0" smtClean="0"/>
              <a:t>Achievements</a:t>
            </a:r>
          </a:p>
          <a:p>
            <a:r>
              <a:rPr lang="en-US" dirty="0" smtClean="0"/>
              <a:t>Research Experience</a:t>
            </a:r>
          </a:p>
          <a:p>
            <a:r>
              <a:rPr lang="en-US" dirty="0" smtClean="0"/>
              <a:t>Motivation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 anchor="b"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2AE9C-BA1D-195E-3B93-A5A0CC03D8F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4360" y="3279579"/>
            <a:ext cx="5044440" cy="299441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 am </a:t>
            </a:r>
            <a:r>
              <a:rPr lang="en-US" b="1" dirty="0">
                <a:solidFill>
                  <a:srgbClr val="C00000"/>
                </a:solidFill>
              </a:rPr>
              <a:t>Syed Mohammad Kashif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From Rawalpindi, Pakistan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 am </a:t>
            </a:r>
            <a:r>
              <a:rPr lang="en-US" b="1" dirty="0" smtClean="0">
                <a:solidFill>
                  <a:srgbClr val="C00000"/>
                </a:solidFill>
              </a:rPr>
              <a:t>24 </a:t>
            </a:r>
            <a:r>
              <a:rPr lang="en-US" b="1" dirty="0">
                <a:solidFill>
                  <a:srgbClr val="C00000"/>
                </a:solidFill>
              </a:rPr>
              <a:t>years </a:t>
            </a:r>
            <a:r>
              <a:rPr lang="en-US" dirty="0" smtClean="0"/>
              <a:t>old (31</a:t>
            </a:r>
            <a:r>
              <a:rPr lang="en-US" baseline="30000" dirty="0" smtClean="0"/>
              <a:t>st</a:t>
            </a:r>
            <a:r>
              <a:rPr lang="en-US" dirty="0" smtClean="0"/>
              <a:t> May, 2001)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Master’s student at </a:t>
            </a:r>
            <a:r>
              <a:rPr lang="en-US" b="1" dirty="0" smtClean="0">
                <a:solidFill>
                  <a:srgbClr val="C00000"/>
                </a:solidFill>
              </a:rPr>
              <a:t>Wuhan University</a:t>
            </a:r>
            <a:r>
              <a:rPr lang="en-US" dirty="0" smtClean="0"/>
              <a:t>, China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 like </a:t>
            </a:r>
            <a:r>
              <a:rPr lang="en-US" b="1" dirty="0" smtClean="0">
                <a:solidFill>
                  <a:srgbClr val="C00000"/>
                </a:solidFill>
              </a:rPr>
              <a:t>Cricket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C00000"/>
                </a:solidFill>
              </a:rPr>
              <a:t>Gym</a:t>
            </a:r>
            <a:r>
              <a:rPr lang="en-US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pic>
        <p:nvPicPr>
          <p:cNvPr id="9" name="Picture Placeholder 8" descr="A person in a graduation gown&#10;&#10;Description automatically generated">
            <a:extLst>
              <a:ext uri="{FF2B5EF4-FFF2-40B4-BE49-F238E27FC236}">
                <a16:creationId xmlns:a16="http://schemas.microsoft.com/office/drawing/2014/main" id="{7F97C62D-8101-6421-801F-7CBADB3832C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931"/>
          <a:stretch/>
        </p:blipFill>
        <p:spPr>
          <a:xfrm>
            <a:off x="6096000" y="10"/>
            <a:ext cx="6118225" cy="6857990"/>
          </a:xfrm>
          <a:noFill/>
        </p:spPr>
      </p:pic>
    </p:spTree>
    <p:extLst>
      <p:ext uri="{BB962C8B-B14F-4D97-AF65-F5344CB8AC3E}">
        <p14:creationId xmlns:p14="http://schemas.microsoft.com/office/powerpoint/2010/main" val="1440871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 smtClean="0"/>
              <a:t>Education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07350"/>
            <a:ext cx="7810500" cy="17365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 smtClean="0"/>
              <a:t>Master’s Studies:</a:t>
            </a:r>
          </a:p>
          <a:p>
            <a:r>
              <a:rPr lang="en-US" dirty="0" smtClean="0"/>
              <a:t>Final year master’s student in </a:t>
            </a:r>
            <a:r>
              <a:rPr lang="en-US" b="1" dirty="0">
                <a:solidFill>
                  <a:srgbClr val="C00000"/>
                </a:solidFill>
              </a:rPr>
              <a:t>Software Engineering </a:t>
            </a:r>
            <a:r>
              <a:rPr lang="en-US" dirty="0" smtClean="0"/>
              <a:t>at</a:t>
            </a:r>
            <a:r>
              <a:rPr lang="en-US" b="1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Wuhan University</a:t>
            </a:r>
            <a:endParaRPr lang="en-US" dirty="0"/>
          </a:p>
          <a:p>
            <a:r>
              <a:rPr lang="en-US" dirty="0" smtClean="0"/>
              <a:t>CGPA </a:t>
            </a:r>
            <a:r>
              <a:rPr lang="en-US" b="1" dirty="0" smtClean="0">
                <a:solidFill>
                  <a:srgbClr val="C00000"/>
                </a:solidFill>
              </a:rPr>
              <a:t>3.61/4.0 (91% marks)</a:t>
            </a:r>
            <a:endParaRPr lang="en-US" dirty="0" smtClean="0">
              <a:solidFill>
                <a:srgbClr val="C00000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 txBox="1">
            <a:spLocks/>
          </p:cNvSpPr>
          <p:nvPr/>
        </p:nvSpPr>
        <p:spPr>
          <a:xfrm>
            <a:off x="3657600" y="4193309"/>
            <a:ext cx="7810500" cy="1740603"/>
          </a:xfrm>
          <a:prstGeom prst="rect">
            <a:avLst/>
          </a:prstGeom>
        </p:spPr>
        <p:txBody>
          <a:bodyPr vert="horz" lIns="0" tIns="228600" rIns="0" bIns="0" rtlCol="0">
            <a:noAutofit/>
          </a:bodyPr>
          <a:lstStyle>
            <a:lvl1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smtClean="0"/>
              <a:t>Bachelor’s Studies:</a:t>
            </a:r>
          </a:p>
          <a:p>
            <a:r>
              <a:rPr lang="en-US" dirty="0"/>
              <a:t>B</a:t>
            </a:r>
            <a:r>
              <a:rPr lang="en-US" dirty="0" smtClean="0"/>
              <a:t>achelor’s degree in </a:t>
            </a:r>
            <a:r>
              <a:rPr lang="en-US" b="1" dirty="0" smtClean="0">
                <a:solidFill>
                  <a:srgbClr val="C00000"/>
                </a:solidFill>
              </a:rPr>
              <a:t>Software Engineering </a:t>
            </a:r>
            <a:r>
              <a:rPr lang="en-US" dirty="0" smtClean="0"/>
              <a:t>from </a:t>
            </a:r>
            <a:r>
              <a:rPr lang="en-US" b="1" dirty="0" smtClean="0">
                <a:solidFill>
                  <a:srgbClr val="C00000"/>
                </a:solidFill>
              </a:rPr>
              <a:t>Riphah International University</a:t>
            </a:r>
            <a:endParaRPr lang="en-US" b="1" dirty="0" smtClean="0"/>
          </a:p>
          <a:p>
            <a:r>
              <a:rPr lang="en-US" dirty="0" smtClean="0"/>
              <a:t>CGPA </a:t>
            </a:r>
            <a:r>
              <a:rPr lang="en-US" b="1" dirty="0" smtClean="0">
                <a:solidFill>
                  <a:srgbClr val="C00000"/>
                </a:solidFill>
              </a:rPr>
              <a:t>3.98/4.0</a:t>
            </a:r>
          </a:p>
        </p:txBody>
      </p: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 smtClean="0"/>
              <a:t>Work </a:t>
            </a:r>
            <a:r>
              <a:rPr lang="en-US" dirty="0"/>
              <a:t>Experience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594360" y="2613747"/>
            <a:ext cx="7810500" cy="242930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</a:pPr>
            <a:r>
              <a:rPr lang="en-US" sz="2000" b="1" dirty="0" smtClean="0">
                <a:solidFill>
                  <a:srgbClr val="C00000"/>
                </a:solidFill>
              </a:rPr>
              <a:t>Software Engineer</a:t>
            </a:r>
            <a:r>
              <a:rPr lang="en-US" sz="2000" dirty="0" smtClean="0">
                <a:solidFill>
                  <a:srgbClr val="C00000"/>
                </a:solidFill>
              </a:rPr>
              <a:t> </a:t>
            </a:r>
            <a:r>
              <a:rPr lang="en-US" sz="2000" dirty="0" smtClean="0"/>
              <a:t>at </a:t>
            </a:r>
            <a:r>
              <a:rPr lang="en-US" sz="2000" b="1" dirty="0" smtClean="0">
                <a:solidFill>
                  <a:srgbClr val="C00000"/>
                </a:solidFill>
              </a:rPr>
              <a:t>Information Services Department </a:t>
            </a:r>
            <a:r>
              <a:rPr lang="en-US" sz="2000" dirty="0" smtClean="0"/>
              <a:t>(ISD) at Riphah International University.</a:t>
            </a:r>
          </a:p>
          <a:p>
            <a:pPr marL="285750" indent="-285750">
              <a:lnSpc>
                <a:spcPct val="150000"/>
              </a:lnSpc>
            </a:pPr>
            <a:r>
              <a:rPr lang="en-US" sz="2000" b="1" dirty="0" smtClean="0">
                <a:solidFill>
                  <a:srgbClr val="C00000"/>
                </a:solidFill>
              </a:rPr>
              <a:t>Software Engineer </a:t>
            </a:r>
            <a:r>
              <a:rPr lang="en-US" sz="2000" dirty="0" smtClean="0"/>
              <a:t>at </a:t>
            </a:r>
            <a:r>
              <a:rPr lang="en-US" sz="2000" b="1" dirty="0" err="1" smtClean="0">
                <a:solidFill>
                  <a:srgbClr val="C00000"/>
                </a:solidFill>
              </a:rPr>
              <a:t>CricFlex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r>
              <a:rPr lang="en-US" sz="2000" dirty="0" smtClean="0"/>
              <a:t>(Project-based)</a:t>
            </a:r>
          </a:p>
          <a:p>
            <a:pPr marL="285750" indent="-285750">
              <a:lnSpc>
                <a:spcPct val="150000"/>
              </a:lnSpc>
            </a:pPr>
            <a:r>
              <a:rPr lang="en-US" sz="2000" b="1" dirty="0" smtClean="0">
                <a:solidFill>
                  <a:srgbClr val="C00000"/>
                </a:solidFill>
              </a:rPr>
              <a:t>Teaching Assistant </a:t>
            </a:r>
            <a:r>
              <a:rPr lang="en-US" sz="2000" dirty="0" smtClean="0"/>
              <a:t>in</a:t>
            </a:r>
            <a:r>
              <a:rPr lang="en-US" sz="2000" b="1" dirty="0" smtClean="0"/>
              <a:t> </a:t>
            </a:r>
            <a:r>
              <a:rPr lang="en-US" sz="2000" b="1" dirty="0" smtClean="0">
                <a:solidFill>
                  <a:srgbClr val="C00000"/>
                </a:solidFill>
              </a:rPr>
              <a:t>OOP</a:t>
            </a:r>
            <a:r>
              <a:rPr lang="en-US" sz="2000" b="1" dirty="0" smtClean="0"/>
              <a:t> </a:t>
            </a:r>
            <a:r>
              <a:rPr lang="en-US" sz="2000" dirty="0" smtClean="0"/>
              <a:t>and</a:t>
            </a:r>
            <a:r>
              <a:rPr lang="en-US" sz="2000" b="1" dirty="0" smtClean="0"/>
              <a:t> </a:t>
            </a:r>
            <a:r>
              <a:rPr lang="en-US" sz="2000" b="1" dirty="0" smtClean="0">
                <a:solidFill>
                  <a:srgbClr val="C00000"/>
                </a:solidFill>
              </a:rPr>
              <a:t>DSA</a:t>
            </a:r>
            <a:r>
              <a:rPr lang="en-US" sz="2000" b="1" dirty="0" smtClean="0"/>
              <a:t> </a:t>
            </a:r>
            <a:r>
              <a:rPr lang="en-US" sz="2000" dirty="0" smtClean="0"/>
              <a:t>courses (internship)</a:t>
            </a:r>
          </a:p>
          <a:p>
            <a:pPr marL="285750" indent="-285750"/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 anchor="b">
            <a:normAutofit/>
          </a:bodyPr>
          <a:lstStyle/>
          <a:p>
            <a:r>
              <a:rPr lang="en-US" dirty="0"/>
              <a:t>Achievements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2AE9C-BA1D-195E-3B93-A5A0CC03D8F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4360" y="3279579"/>
            <a:ext cx="5423668" cy="2994415"/>
          </a:xfrm>
        </p:spPr>
        <p:txBody>
          <a:bodyPr>
            <a:normAutofit/>
          </a:bodyPr>
          <a:lstStyle/>
          <a:p>
            <a:r>
              <a:rPr lang="en-US" dirty="0"/>
              <a:t>F</a:t>
            </a:r>
            <a:r>
              <a:rPr lang="en-US" dirty="0" smtClean="0"/>
              <a:t>irst WHU international master’s who </a:t>
            </a:r>
            <a:r>
              <a:rPr lang="en-US" b="1" dirty="0" smtClean="0">
                <a:solidFill>
                  <a:srgbClr val="C00000"/>
                </a:solidFill>
              </a:rPr>
              <a:t>published</a:t>
            </a:r>
            <a:r>
              <a:rPr lang="en-US" dirty="0" smtClean="0"/>
              <a:t> in </a:t>
            </a:r>
            <a:r>
              <a:rPr lang="en-US" b="1" dirty="0" smtClean="0">
                <a:solidFill>
                  <a:srgbClr val="C00000"/>
                </a:solidFill>
              </a:rPr>
              <a:t>CCF-A journal (TOSEM)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65"/>
          <a:stretch/>
        </p:blipFill>
        <p:spPr>
          <a:xfrm>
            <a:off x="7250376" y="13979"/>
            <a:ext cx="4941624" cy="6801491"/>
          </a:xfrm>
        </p:spPr>
      </p:pic>
    </p:spTree>
    <p:extLst>
      <p:ext uri="{BB962C8B-B14F-4D97-AF65-F5344CB8AC3E}">
        <p14:creationId xmlns:p14="http://schemas.microsoft.com/office/powerpoint/2010/main" val="236558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 anchor="b">
            <a:normAutofit/>
          </a:bodyPr>
          <a:lstStyle/>
          <a:p>
            <a:r>
              <a:rPr lang="en-US" dirty="0"/>
              <a:t>Achievements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2AE9C-BA1D-195E-3B93-A5A0CC03D8F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4360" y="3279579"/>
            <a:ext cx="5423668" cy="299441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C00000"/>
                </a:solidFill>
              </a:rPr>
              <a:t>Outstanding International student </a:t>
            </a:r>
            <a:r>
              <a:rPr lang="en-US" dirty="0" smtClean="0"/>
              <a:t>award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China Scholarship Council </a:t>
            </a:r>
            <a:r>
              <a:rPr lang="en-US" b="1" dirty="0" smtClean="0">
                <a:solidFill>
                  <a:srgbClr val="C00000"/>
                </a:solidFill>
              </a:rPr>
              <a:t>Fully Funded Scholarship</a:t>
            </a:r>
            <a:r>
              <a:rPr lang="en-US" dirty="0" smtClean="0"/>
              <a:t> 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C00000"/>
                </a:solidFill>
              </a:rPr>
              <a:t>Gold Medal</a:t>
            </a:r>
            <a:r>
              <a:rPr lang="en-US" dirty="0" smtClean="0"/>
              <a:t> in my bachelor’s degree.</a:t>
            </a:r>
            <a:endParaRPr lang="en-US" dirty="0"/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43" b="9827"/>
          <a:stretch/>
        </p:blipFill>
        <p:spPr>
          <a:xfrm>
            <a:off x="6123420" y="-1033"/>
            <a:ext cx="6068580" cy="6849980"/>
          </a:xfrm>
        </p:spPr>
      </p:pic>
    </p:spTree>
    <p:extLst>
      <p:ext uri="{BB962C8B-B14F-4D97-AF65-F5344CB8AC3E}">
        <p14:creationId xmlns:p14="http://schemas.microsoft.com/office/powerpoint/2010/main" val="1106055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 smtClean="0"/>
              <a:t>Research Experience (First Study)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594359" y="2613747"/>
            <a:ext cx="9778365" cy="338301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/>
            <a:r>
              <a:rPr lang="en-US" sz="2000" smtClean="0"/>
              <a:t>Worked with </a:t>
            </a:r>
            <a:r>
              <a:rPr lang="en-US" sz="2000" b="1" dirty="0" smtClean="0">
                <a:solidFill>
                  <a:srgbClr val="C00000"/>
                </a:solidFill>
              </a:rPr>
              <a:t>Prof. Liang Peng </a:t>
            </a:r>
            <a:r>
              <a:rPr lang="en-US" sz="2000" dirty="0" smtClean="0"/>
              <a:t>and </a:t>
            </a:r>
            <a:r>
              <a:rPr lang="en-US" sz="2000" b="1" dirty="0" smtClean="0">
                <a:solidFill>
                  <a:srgbClr val="C00000"/>
                </a:solidFill>
              </a:rPr>
              <a:t>Prof. Amjed Tahir</a:t>
            </a:r>
            <a:r>
              <a:rPr lang="en-US" sz="2000" dirty="0" smtClean="0"/>
              <a:t>.</a:t>
            </a:r>
          </a:p>
          <a:p>
            <a:pPr marL="285750" indent="-285750"/>
            <a:r>
              <a:rPr lang="en-US" sz="2000" b="1" dirty="0" smtClean="0">
                <a:solidFill>
                  <a:srgbClr val="C00000"/>
                </a:solidFill>
              </a:rPr>
              <a:t>Self-declared AI-generated code </a:t>
            </a:r>
            <a:r>
              <a:rPr lang="en-US" sz="2000" dirty="0" smtClean="0"/>
              <a:t>is inspired from </a:t>
            </a:r>
            <a:r>
              <a:rPr lang="en-US" sz="2000" b="1" dirty="0" smtClean="0">
                <a:solidFill>
                  <a:srgbClr val="C00000"/>
                </a:solidFill>
              </a:rPr>
              <a:t>self-declared technical debt</a:t>
            </a:r>
            <a:r>
              <a:rPr lang="en-US" sz="2000" dirty="0" smtClean="0"/>
              <a:t>.</a:t>
            </a:r>
          </a:p>
          <a:p>
            <a:pPr marL="285750" indent="-285750"/>
            <a:r>
              <a:rPr lang="en-US" sz="2000" dirty="0"/>
              <a:t>D</a:t>
            </a:r>
            <a:r>
              <a:rPr lang="en-US" sz="2000" dirty="0" smtClean="0"/>
              <a:t>esigned </a:t>
            </a:r>
            <a:r>
              <a:rPr lang="en-US" sz="2000" dirty="0"/>
              <a:t>a </a:t>
            </a:r>
            <a:r>
              <a:rPr lang="en-US" sz="2000" b="1" dirty="0">
                <a:solidFill>
                  <a:srgbClr val="C00000"/>
                </a:solidFill>
              </a:rPr>
              <a:t>mixed methods empirical study </a:t>
            </a:r>
            <a:r>
              <a:rPr lang="en-US" sz="2000" dirty="0"/>
              <a:t>including </a:t>
            </a:r>
            <a:r>
              <a:rPr lang="en-US" sz="2000" b="1" dirty="0">
                <a:solidFill>
                  <a:srgbClr val="C00000"/>
                </a:solidFill>
              </a:rPr>
              <a:t>mining data from GitHub </a:t>
            </a:r>
            <a:r>
              <a:rPr lang="en-US" sz="2000" dirty="0"/>
              <a:t>and a follow-up </a:t>
            </a:r>
            <a:r>
              <a:rPr lang="en-US" sz="2000" b="1" dirty="0">
                <a:solidFill>
                  <a:srgbClr val="C00000"/>
                </a:solidFill>
              </a:rPr>
              <a:t>practitioner’s survey</a:t>
            </a:r>
            <a:r>
              <a:rPr lang="en-US" sz="2000" dirty="0" smtClean="0"/>
              <a:t>.</a:t>
            </a:r>
          </a:p>
          <a:p>
            <a:pPr marL="285750" indent="-285750"/>
            <a:r>
              <a:rPr lang="en-US" sz="2000" dirty="0" smtClean="0"/>
              <a:t>Completed the paper</a:t>
            </a:r>
            <a:r>
              <a:rPr lang="en-US" sz="2000" dirty="0"/>
              <a:t>, “</a:t>
            </a:r>
            <a:r>
              <a:rPr lang="en-US" sz="2000" i="1" dirty="0"/>
              <a:t>On Developers’ Self-Declaration of AI-Generated Code: An Analysis of </a:t>
            </a:r>
            <a:r>
              <a:rPr lang="en-US" sz="2000" i="1" dirty="0" smtClean="0"/>
              <a:t>Practices</a:t>
            </a:r>
            <a:r>
              <a:rPr lang="en-US" sz="2000" dirty="0" smtClean="0"/>
              <a:t>”. </a:t>
            </a:r>
          </a:p>
          <a:p>
            <a:pPr marL="285750" indent="-285750"/>
            <a:r>
              <a:rPr lang="en-US" sz="2000" b="1" dirty="0">
                <a:solidFill>
                  <a:srgbClr val="C00000"/>
                </a:solidFill>
              </a:rPr>
              <a:t>RQ1: </a:t>
            </a:r>
            <a:r>
              <a:rPr lang="en-US" sz="2000" dirty="0"/>
              <a:t>How do developers self-declare AI-generated code in their projects?</a:t>
            </a:r>
          </a:p>
          <a:p>
            <a:pPr marL="285750" indent="-285750"/>
            <a:r>
              <a:rPr lang="en-US" sz="2000" b="1" dirty="0" smtClean="0">
                <a:solidFill>
                  <a:srgbClr val="C00000"/>
                </a:solidFill>
              </a:rPr>
              <a:t>RQ2: </a:t>
            </a:r>
            <a:r>
              <a:rPr lang="en-US" sz="2000" dirty="0" smtClean="0"/>
              <a:t>Do </a:t>
            </a:r>
            <a:r>
              <a:rPr lang="en-US" sz="2000" dirty="0"/>
              <a:t>developers self-declare AI-generated code in practice? Why or why not?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79561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14" y="659065"/>
            <a:ext cx="9878384" cy="553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343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 smtClean="0"/>
              <a:t>Research Experience (Results)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594359" y="2613747"/>
            <a:ext cx="10442236" cy="245701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/>
            <a:r>
              <a:rPr lang="en-US" sz="2000" dirty="0" smtClean="0"/>
              <a:t>Most practitioners use </a:t>
            </a:r>
            <a:r>
              <a:rPr lang="en-US" sz="2000" b="1" dirty="0" smtClean="0">
                <a:solidFill>
                  <a:srgbClr val="C00000"/>
                </a:solidFill>
              </a:rPr>
              <a:t>simple self-declaration comments </a:t>
            </a:r>
            <a:r>
              <a:rPr lang="en-US" sz="2000" dirty="0" smtClean="0"/>
              <a:t>to self-declare AI-generated code. </a:t>
            </a:r>
          </a:p>
          <a:p>
            <a:pPr marL="342900" indent="-342900"/>
            <a:r>
              <a:rPr lang="en-US" sz="2000" dirty="0"/>
              <a:t>T</a:t>
            </a:r>
            <a:r>
              <a:rPr lang="en-US" sz="2000" dirty="0" smtClean="0"/>
              <a:t>he </a:t>
            </a:r>
            <a:r>
              <a:rPr lang="en-US" sz="2000" b="1" dirty="0">
                <a:solidFill>
                  <a:srgbClr val="C00000"/>
                </a:solidFill>
              </a:rPr>
              <a:t>occurrences</a:t>
            </a:r>
            <a:r>
              <a:rPr lang="en-US" sz="2000" dirty="0"/>
              <a:t> of </a:t>
            </a:r>
            <a:r>
              <a:rPr lang="en-US" sz="2000" dirty="0" smtClean="0"/>
              <a:t>self-declared AI-generated code in </a:t>
            </a:r>
            <a:r>
              <a:rPr lang="en-US" sz="2000" dirty="0"/>
              <a:t>GitHub repositories are </a:t>
            </a:r>
            <a:r>
              <a:rPr lang="en-US" sz="2000" b="1" dirty="0">
                <a:solidFill>
                  <a:srgbClr val="C00000"/>
                </a:solidFill>
              </a:rPr>
              <a:t>low</a:t>
            </a:r>
            <a:r>
              <a:rPr lang="en-US" sz="2000" dirty="0"/>
              <a:t>. The </a:t>
            </a:r>
            <a:r>
              <a:rPr lang="en-US" sz="2000" b="1" dirty="0">
                <a:solidFill>
                  <a:srgbClr val="C00000"/>
                </a:solidFill>
              </a:rPr>
              <a:t>trend</a:t>
            </a:r>
            <a:r>
              <a:rPr lang="en-US" sz="2000" dirty="0"/>
              <a:t> indicates a </a:t>
            </a:r>
            <a:r>
              <a:rPr lang="en-US" sz="2000" b="1" dirty="0">
                <a:solidFill>
                  <a:srgbClr val="C00000"/>
                </a:solidFill>
              </a:rPr>
              <a:t>steady increase </a:t>
            </a:r>
            <a:r>
              <a:rPr lang="en-US" sz="2000" dirty="0"/>
              <a:t>in self-declaring AI-generated code among developers</a:t>
            </a:r>
            <a:r>
              <a:rPr lang="en-US" sz="2000" dirty="0" smtClean="0"/>
              <a:t>.</a:t>
            </a:r>
          </a:p>
          <a:p>
            <a:pPr marL="342900" indent="-342900"/>
            <a:r>
              <a:rPr lang="en-US" sz="2000" dirty="0" smtClean="0"/>
              <a:t>Practitioners self-declare </a:t>
            </a:r>
            <a:r>
              <a:rPr lang="en-US" sz="2000" dirty="0"/>
              <a:t>AI-generated code </a:t>
            </a:r>
            <a:r>
              <a:rPr lang="en-US" sz="2000" b="1" dirty="0" smtClean="0">
                <a:solidFill>
                  <a:srgbClr val="C00000"/>
                </a:solidFill>
              </a:rPr>
              <a:t>to </a:t>
            </a:r>
            <a:r>
              <a:rPr lang="en-US" sz="2000" b="1" dirty="0">
                <a:solidFill>
                  <a:srgbClr val="C00000"/>
                </a:solidFill>
              </a:rPr>
              <a:t>track it </a:t>
            </a:r>
            <a:r>
              <a:rPr lang="en-US" sz="2000" dirty="0"/>
              <a:t>for future code review and </a:t>
            </a:r>
            <a:r>
              <a:rPr lang="en-US" sz="2000" dirty="0" smtClean="0"/>
              <a:t>debugging.</a:t>
            </a:r>
            <a:endParaRPr lang="en-US" sz="2000" b="1" dirty="0" smtClean="0"/>
          </a:p>
          <a:p>
            <a:pPr marL="342900" indent="-342900"/>
            <a:r>
              <a:rPr lang="en-US" sz="2000" dirty="0" smtClean="0"/>
              <a:t>Practitioners do not self-declare AI-generated code because they </a:t>
            </a:r>
            <a:r>
              <a:rPr lang="en-US" sz="2000" b="1" dirty="0" smtClean="0">
                <a:solidFill>
                  <a:srgbClr val="C00000"/>
                </a:solidFill>
              </a:rPr>
              <a:t>review </a:t>
            </a:r>
            <a:r>
              <a:rPr lang="en-US" sz="2000" b="1" dirty="0">
                <a:solidFill>
                  <a:srgbClr val="C00000"/>
                </a:solidFill>
              </a:rPr>
              <a:t>and </a:t>
            </a:r>
            <a:r>
              <a:rPr lang="en-US" sz="2000" b="1" dirty="0" smtClean="0">
                <a:solidFill>
                  <a:srgbClr val="C00000"/>
                </a:solidFill>
              </a:rPr>
              <a:t>modify </a:t>
            </a:r>
            <a:r>
              <a:rPr lang="en-US" sz="2000" dirty="0" smtClean="0"/>
              <a:t>the code </a:t>
            </a:r>
            <a:r>
              <a:rPr lang="en-US" sz="2000" dirty="0"/>
              <a:t>before </a:t>
            </a:r>
            <a:r>
              <a:rPr lang="en-US" sz="2000" dirty="0" smtClean="0"/>
              <a:t>integrating </a:t>
            </a:r>
            <a:r>
              <a:rPr lang="en-US" sz="2000" dirty="0"/>
              <a:t>into their </a:t>
            </a:r>
            <a:r>
              <a:rPr lang="en-US" sz="2000" dirty="0" smtClean="0"/>
              <a:t>projects.</a:t>
            </a:r>
          </a:p>
        </p:txBody>
      </p:sp>
    </p:spTree>
    <p:extLst>
      <p:ext uri="{BB962C8B-B14F-4D97-AF65-F5344CB8AC3E}">
        <p14:creationId xmlns:p14="http://schemas.microsoft.com/office/powerpoint/2010/main" val="2702479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 smtClean="0"/>
              <a:t>Research Experience (Second Study)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594359" y="2613746"/>
            <a:ext cx="10442236" cy="330858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/>
            <a:r>
              <a:rPr lang="en-US" sz="2000" dirty="0" smtClean="0"/>
              <a:t>For my thesis, I am </a:t>
            </a:r>
            <a:r>
              <a:rPr lang="en-US" sz="2000" b="1" dirty="0" smtClean="0">
                <a:solidFill>
                  <a:srgbClr val="C00000"/>
                </a:solidFill>
              </a:rPr>
              <a:t>researching AI-powered IDEs </a:t>
            </a:r>
            <a:r>
              <a:rPr lang="en-US" sz="2000" dirty="0" smtClean="0"/>
              <a:t>(Cursor) to generate </a:t>
            </a:r>
            <a:r>
              <a:rPr lang="en-US" sz="2000" b="1" dirty="0" smtClean="0">
                <a:solidFill>
                  <a:srgbClr val="C00000"/>
                </a:solidFill>
              </a:rPr>
              <a:t>large-scale projects </a:t>
            </a:r>
            <a:r>
              <a:rPr lang="en-US" sz="2000" dirty="0" smtClean="0"/>
              <a:t>and identify </a:t>
            </a:r>
            <a:r>
              <a:rPr lang="en-US" sz="2000" b="1" dirty="0" smtClean="0">
                <a:solidFill>
                  <a:srgbClr val="C00000"/>
                </a:solidFill>
              </a:rPr>
              <a:t>design issues </a:t>
            </a:r>
            <a:r>
              <a:rPr lang="en-US" sz="2000" dirty="0" smtClean="0"/>
              <a:t>in project-level code.</a:t>
            </a:r>
          </a:p>
          <a:p>
            <a:pPr marL="342900" indent="-342900"/>
            <a:r>
              <a:rPr lang="en-US" sz="2000" b="1" dirty="0">
                <a:solidFill>
                  <a:srgbClr val="C00000"/>
                </a:solidFill>
              </a:rPr>
              <a:t>RQ1: </a:t>
            </a:r>
            <a:r>
              <a:rPr lang="en-US" sz="2000" dirty="0"/>
              <a:t>Can Cursor generate large-scale projects?</a:t>
            </a:r>
          </a:p>
          <a:p>
            <a:pPr marL="342900" indent="-342900"/>
            <a:r>
              <a:rPr lang="en-US" sz="2000" b="1" dirty="0">
                <a:solidFill>
                  <a:srgbClr val="C00000"/>
                </a:solidFill>
              </a:rPr>
              <a:t>RQ2: </a:t>
            </a:r>
            <a:r>
              <a:rPr lang="en-US" sz="2000" dirty="0"/>
              <a:t>What design issues are likely to appear in large-scale projects generated by Cursor?</a:t>
            </a: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751066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695" t="-379" b="-2"/>
          <a:stretch/>
        </p:blipFill>
        <p:spPr>
          <a:xfrm>
            <a:off x="16041" y="1395664"/>
            <a:ext cx="12175959" cy="422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7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 smtClean="0"/>
              <a:t>Research Experience (Results)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28" y="2407853"/>
            <a:ext cx="12004672" cy="420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38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335" y="13811"/>
            <a:ext cx="10069330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01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 smtClean="0"/>
              <a:t>Research Experience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594359" y="2613747"/>
            <a:ext cx="10442236" cy="221687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/>
            <a:r>
              <a:rPr lang="en-US" sz="2000" dirty="0" smtClean="0"/>
              <a:t>Now designing an </a:t>
            </a:r>
            <a:r>
              <a:rPr lang="en-US" sz="2000" b="1" dirty="0" smtClean="0">
                <a:solidFill>
                  <a:srgbClr val="C00000"/>
                </a:solidFill>
              </a:rPr>
              <a:t>autonomous multi-agent system </a:t>
            </a:r>
            <a:r>
              <a:rPr lang="en-US" sz="2000" dirty="0" smtClean="0"/>
              <a:t>for code refactoring</a:t>
            </a:r>
          </a:p>
          <a:p>
            <a:pPr marL="342900" indent="-342900"/>
            <a:r>
              <a:rPr lang="en-US" sz="2000" b="1" dirty="0" smtClean="0">
                <a:solidFill>
                  <a:srgbClr val="C00000"/>
                </a:solidFill>
              </a:rPr>
              <a:t>Orchestrator agent</a:t>
            </a:r>
            <a:r>
              <a:rPr lang="en-US" sz="2000" dirty="0" smtClean="0">
                <a:solidFill>
                  <a:srgbClr val="C00000"/>
                </a:solidFill>
              </a:rPr>
              <a:t> </a:t>
            </a:r>
            <a:r>
              <a:rPr lang="en-US" sz="2000" dirty="0"/>
              <a:t>— Coordinates the </a:t>
            </a:r>
            <a:r>
              <a:rPr lang="en-US" sz="2000" dirty="0" smtClean="0"/>
              <a:t>workflow and invoke tools</a:t>
            </a:r>
          </a:p>
          <a:p>
            <a:pPr marL="342900" indent="-342900"/>
            <a:r>
              <a:rPr lang="en-US" sz="2000" b="1" dirty="0" smtClean="0">
                <a:solidFill>
                  <a:srgbClr val="C00000"/>
                </a:solidFill>
              </a:rPr>
              <a:t>Analyzer agent</a:t>
            </a:r>
            <a:r>
              <a:rPr lang="en-US" sz="2000" dirty="0" smtClean="0"/>
              <a:t> </a:t>
            </a:r>
            <a:r>
              <a:rPr lang="en-US" sz="2000" dirty="0"/>
              <a:t>— Analyzes code </a:t>
            </a:r>
            <a:r>
              <a:rPr lang="en-US" sz="2000" dirty="0" smtClean="0"/>
              <a:t>issues</a:t>
            </a:r>
          </a:p>
          <a:p>
            <a:pPr marL="342900" indent="-342900"/>
            <a:r>
              <a:rPr lang="en-US" sz="2000" b="1" dirty="0" smtClean="0">
                <a:solidFill>
                  <a:srgbClr val="C00000"/>
                </a:solidFill>
              </a:rPr>
              <a:t>Refactoring agent</a:t>
            </a:r>
            <a:r>
              <a:rPr lang="en-US" sz="2000" dirty="0" smtClean="0"/>
              <a:t> </a:t>
            </a:r>
            <a:r>
              <a:rPr lang="en-US" sz="2000" dirty="0"/>
              <a:t>— Generates refactored </a:t>
            </a:r>
            <a:r>
              <a:rPr lang="en-US" sz="2000" dirty="0" smtClean="0"/>
              <a:t>code</a:t>
            </a:r>
          </a:p>
          <a:p>
            <a:pPr marL="342900" indent="-342900"/>
            <a:r>
              <a:rPr lang="en-US" sz="2000" b="1" dirty="0" smtClean="0">
                <a:solidFill>
                  <a:srgbClr val="C00000"/>
                </a:solidFill>
              </a:rPr>
              <a:t>Validator agent</a:t>
            </a:r>
            <a:r>
              <a:rPr lang="en-US" sz="2000" dirty="0" smtClean="0"/>
              <a:t> </a:t>
            </a:r>
            <a:r>
              <a:rPr lang="en-US" sz="2000" dirty="0"/>
              <a:t>— Validates refactored </a:t>
            </a:r>
            <a:r>
              <a:rPr lang="en-US" sz="2000" dirty="0" smtClean="0"/>
              <a:t>code</a:t>
            </a:r>
          </a:p>
          <a:p>
            <a:pPr marL="0" indent="0">
              <a:buNone/>
            </a:pPr>
            <a:endParaRPr lang="en-US" sz="2000" dirty="0" smtClean="0"/>
          </a:p>
          <a:p>
            <a:pPr marL="342900" indent="-342900"/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58006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594359" y="2613746"/>
            <a:ext cx="10442236" cy="330858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/>
            <a:r>
              <a:rPr lang="en-US" sz="2000" dirty="0" smtClean="0"/>
              <a:t>My Research Interest is aligned with the goals of FUSE Lab. My </a:t>
            </a:r>
            <a:r>
              <a:rPr lang="en-US" sz="2000" b="1" dirty="0" smtClean="0">
                <a:solidFill>
                  <a:srgbClr val="C00000"/>
                </a:solidFill>
              </a:rPr>
              <a:t>research interest </a:t>
            </a:r>
            <a:r>
              <a:rPr lang="en-US" sz="2000" dirty="0" smtClean="0"/>
              <a:t>include </a:t>
            </a:r>
            <a:r>
              <a:rPr lang="en-US" sz="2000" b="1" dirty="0" smtClean="0">
                <a:solidFill>
                  <a:srgbClr val="C00000"/>
                </a:solidFill>
              </a:rPr>
              <a:t>empirical methods in software engineering</a:t>
            </a:r>
            <a:r>
              <a:rPr lang="en-US" sz="2000" dirty="0" smtClean="0"/>
              <a:t> and </a:t>
            </a:r>
            <a:r>
              <a:rPr lang="en-US" sz="2000" b="1" dirty="0" smtClean="0">
                <a:solidFill>
                  <a:srgbClr val="C00000"/>
                </a:solidFill>
              </a:rPr>
              <a:t>AI4SE </a:t>
            </a:r>
            <a:r>
              <a:rPr lang="en-US" sz="2000" dirty="0" smtClean="0"/>
              <a:t>(LLMs and autonomous agents for SE tasks)</a:t>
            </a:r>
          </a:p>
          <a:p>
            <a:pPr marL="342900" indent="-342900"/>
            <a:r>
              <a:rPr lang="en-US" sz="2000" dirty="0" smtClean="0"/>
              <a:t>My </a:t>
            </a:r>
            <a:r>
              <a:rPr lang="en-US" sz="2000" b="1" dirty="0" smtClean="0">
                <a:solidFill>
                  <a:srgbClr val="C00000"/>
                </a:solidFill>
              </a:rPr>
              <a:t>research experience</a:t>
            </a:r>
            <a:r>
              <a:rPr lang="en-US" sz="2000" dirty="0" smtClean="0"/>
              <a:t>, </a:t>
            </a:r>
            <a:r>
              <a:rPr lang="en-US" sz="2000" b="1" dirty="0" smtClean="0">
                <a:solidFill>
                  <a:srgbClr val="C00000"/>
                </a:solidFill>
              </a:rPr>
              <a:t>work experience </a:t>
            </a:r>
            <a:r>
              <a:rPr lang="en-US" sz="2000" dirty="0" smtClean="0"/>
              <a:t>and </a:t>
            </a:r>
            <a:r>
              <a:rPr lang="en-US" sz="2000" b="1" dirty="0" smtClean="0">
                <a:solidFill>
                  <a:srgbClr val="C00000"/>
                </a:solidFill>
              </a:rPr>
              <a:t>education background </a:t>
            </a:r>
            <a:r>
              <a:rPr lang="en-US" sz="2000" dirty="0" smtClean="0"/>
              <a:t>is in software engineering</a:t>
            </a:r>
          </a:p>
          <a:p>
            <a:pPr marL="342900" indent="-342900"/>
            <a:r>
              <a:rPr lang="en-US" sz="2000" dirty="0" smtClean="0"/>
              <a:t>FUSE Lab has </a:t>
            </a:r>
            <a:r>
              <a:rPr lang="en-US" sz="2000" b="1" dirty="0" smtClean="0">
                <a:solidFill>
                  <a:srgbClr val="C00000"/>
                </a:solidFill>
              </a:rPr>
              <a:t>collaboration with Meta</a:t>
            </a:r>
          </a:p>
          <a:p>
            <a:pPr marL="342900" indent="-342900"/>
            <a:r>
              <a:rPr lang="en-US" sz="2000" dirty="0" smtClean="0"/>
              <a:t>Delft University of technology is a </a:t>
            </a:r>
            <a:r>
              <a:rPr lang="en-US" sz="2000" b="1" dirty="0" smtClean="0">
                <a:solidFill>
                  <a:srgbClr val="C00000"/>
                </a:solidFill>
              </a:rPr>
              <a:t>top ranked university</a:t>
            </a:r>
          </a:p>
          <a:p>
            <a:pPr marL="342900" indent="-342900"/>
            <a:r>
              <a:rPr lang="en-US" sz="2000" dirty="0" smtClean="0"/>
              <a:t>This position is aligned with my </a:t>
            </a:r>
            <a:r>
              <a:rPr lang="en-US" sz="2000" b="1" dirty="0" smtClean="0">
                <a:solidFill>
                  <a:srgbClr val="C00000"/>
                </a:solidFill>
              </a:rPr>
              <a:t>long term career goals</a:t>
            </a:r>
            <a:endParaRPr lang="en-US" sz="2000" dirty="0" smtClean="0"/>
          </a:p>
          <a:p>
            <a:pPr marL="342900" indent="-342900"/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342900" indent="-342900"/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57360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purl.org/dc/terms/"/>
    <ds:schemaRef ds:uri="http://purl.org/dc/dcmitype/"/>
    <ds:schemaRef ds:uri="http://schemas.microsoft.com/sharepoint/v3"/>
    <ds:schemaRef ds:uri="http://www.w3.org/XML/1998/namespace"/>
    <ds:schemaRef ds:uri="230e9df3-be65-4c73-a93b-d1236ebd677e"/>
    <ds:schemaRef ds:uri="http://schemas.microsoft.com/office/infopath/2007/PartnerControls"/>
    <ds:schemaRef ds:uri="71af3243-3dd4-4a8d-8c0d-dd76da1f02a5"/>
    <ds:schemaRef ds:uri="http://schemas.microsoft.com/office/2006/documentManagement/types"/>
    <ds:schemaRef ds:uri="http://schemas.openxmlformats.org/package/2006/metadata/core-properties"/>
    <ds:schemaRef ds:uri="16c05727-aa75-4e4a-9b5f-8a80a1165891"/>
    <ds:schemaRef ds:uri="http://purl.org/dc/elements/1.1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1653</TotalTime>
  <Words>497</Words>
  <Application>Microsoft Office PowerPoint</Application>
  <PresentationFormat>Widescreen</PresentationFormat>
  <Paragraphs>79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Franklin Gothic Book</vt:lpstr>
      <vt:lpstr>Franklin Gothic Demi</vt:lpstr>
      <vt:lpstr>Custom</vt:lpstr>
      <vt:lpstr>FUSE Lab Interview Presentation</vt:lpstr>
      <vt:lpstr>Agenda</vt:lpstr>
      <vt:lpstr>Introduction</vt:lpstr>
      <vt:lpstr>Education</vt:lpstr>
      <vt:lpstr>Work Experience</vt:lpstr>
      <vt:lpstr>Achievements</vt:lpstr>
      <vt:lpstr>Achievements</vt:lpstr>
      <vt:lpstr>Research Experience (First Study)</vt:lpstr>
      <vt:lpstr>PowerPoint Presentation</vt:lpstr>
      <vt:lpstr>Research Experience (Results)</vt:lpstr>
      <vt:lpstr>Research Experience (Second Study)</vt:lpstr>
      <vt:lpstr>PowerPoint Presentation</vt:lpstr>
      <vt:lpstr>Research Experience (Results)</vt:lpstr>
      <vt:lpstr>PowerPoint Presentation</vt:lpstr>
      <vt:lpstr>Research Experience</vt:lpstr>
      <vt:lpstr>Motivation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EMSSE Interview Presentation</dc:title>
  <dc:creator>Syed Mohammad Kashif</dc:creator>
  <cp:lastModifiedBy>leonvo</cp:lastModifiedBy>
  <cp:revision>30</cp:revision>
  <dcterms:created xsi:type="dcterms:W3CDTF">2024-03-17T15:41:12Z</dcterms:created>
  <dcterms:modified xsi:type="dcterms:W3CDTF">2026-01-29T17:50:41Z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